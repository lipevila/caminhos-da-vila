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1"/>
  </p:sldMasterIdLst>
  <p:notesMasterIdLst>
    <p:notesMasterId r:id="rId9"/>
  </p:notesMasterIdLst>
  <p:sldIdLst>
    <p:sldId id="1710" r:id="rId2"/>
    <p:sldId id="1038" r:id="rId3"/>
    <p:sldId id="1780" r:id="rId4"/>
    <p:sldId id="1782" r:id="rId5"/>
    <p:sldId id="1783" r:id="rId6"/>
    <p:sldId id="1785" r:id="rId7"/>
    <p:sldId id="1781" r:id="rId8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C4"/>
    <a:srgbClr val="009999"/>
    <a:srgbClr val="33CCCC"/>
    <a:srgbClr val="A9D7CC"/>
    <a:srgbClr val="A49903"/>
    <a:srgbClr val="E19D0A"/>
    <a:srgbClr val="E46403"/>
    <a:srgbClr val="BBC8DB"/>
    <a:srgbClr val="2F5597"/>
    <a:srgbClr val="9D6E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67" autoAdjust="0"/>
    <p:restoredTop sz="96395" autoAdjust="0"/>
  </p:normalViewPr>
  <p:slideViewPr>
    <p:cSldViewPr snapToGrid="0">
      <p:cViewPr varScale="1">
        <p:scale>
          <a:sx n="71" d="100"/>
          <a:sy n="71" d="100"/>
        </p:scale>
        <p:origin x="64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-15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1F5FBF-DA08-4595-BD39-01EE41DC88C3}" type="datetimeFigureOut">
              <a:rPr lang="pt-BR" smtClean="0"/>
              <a:t>08/05/2024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824B6-A356-4A20-AD3D-FAE403AF4B5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869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63D99E8-BEB9-28DD-286F-121FC5C41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 b="47985"/>
          <a:stretch/>
        </p:blipFill>
        <p:spPr>
          <a:xfrm>
            <a:off x="10010775" y="123495"/>
            <a:ext cx="2063465" cy="992096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401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  <a:latin typeface="Gorga Grotesque" panose="00000500000000000000" pitchFamily="50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5512"/>
            <a:ext cx="10515600" cy="4489962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7C72"/>
              </a:buClr>
              <a:buSzPct val="120000"/>
              <a:buFont typeface="Wingdings" panose="05000000000000000000" pitchFamily="2" charset="2"/>
              <a:buChar char="§"/>
              <a:defRPr lang="pt-BR" sz="2400" kern="120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7C72"/>
              </a:buClr>
              <a:buSzPct val="120000"/>
              <a:buFont typeface="Wingdings" panose="05000000000000000000" pitchFamily="2" charset="2"/>
              <a:buChar char="§"/>
              <a:defRPr lang="pt-BR" sz="2000" kern="120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7C72"/>
              </a:buClr>
              <a:buSzPct val="120000"/>
              <a:buFont typeface="Wingdings" panose="05000000000000000000" pitchFamily="2" charset="2"/>
              <a:buChar char="§"/>
              <a:defRPr lang="pt-BR" sz="2000" kern="120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7C72"/>
              </a:buClr>
              <a:buSzPct val="120000"/>
              <a:buFont typeface="Wingdings" panose="05000000000000000000" pitchFamily="2" charset="2"/>
              <a:buChar char="§"/>
              <a:defRPr lang="pt-BR" sz="2000" kern="120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7C72"/>
              </a:buClr>
              <a:buSzPct val="120000"/>
              <a:buFont typeface="Wingdings" panose="05000000000000000000" pitchFamily="2" charset="2"/>
              <a:buChar char="§"/>
              <a:defRPr lang="pt-BR" sz="20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062C6EC-6DC8-9862-2A2B-DADBF0D7B8ED}"/>
              </a:ext>
            </a:extLst>
          </p:cNvPr>
          <p:cNvSpPr/>
          <p:nvPr userDrawn="1"/>
        </p:nvSpPr>
        <p:spPr>
          <a:xfrm>
            <a:off x="0" y="968526"/>
            <a:ext cx="2351769" cy="209923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358FE91-8664-44F0-9156-DCEEAA677E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" y="5895474"/>
            <a:ext cx="1429951" cy="716612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3699C63-9A69-7F88-5B20-A76348679CC7}"/>
              </a:ext>
            </a:extLst>
          </p:cNvPr>
          <p:cNvSpPr/>
          <p:nvPr userDrawn="1"/>
        </p:nvSpPr>
        <p:spPr>
          <a:xfrm>
            <a:off x="8772128" y="1115590"/>
            <a:ext cx="3419872" cy="72000"/>
          </a:xfrm>
          <a:prstGeom prst="rect">
            <a:avLst/>
          </a:prstGeom>
          <a:solidFill>
            <a:srgbClr val="00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Google Shape;80;p1" descr="Pan American Silver reports third quarter 2022 results">
            <a:extLst>
              <a:ext uri="{FF2B5EF4-FFF2-40B4-BE49-F238E27FC236}">
                <a16:creationId xmlns:a16="http://schemas.microsoft.com/office/drawing/2014/main" id="{C9CC9059-155B-FC15-7FE8-0FB8C40BA65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9274130" y="5921683"/>
            <a:ext cx="2604686" cy="6641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376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1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0F91A-361B-445E-BA5B-3D907CC694CE}" type="datetimeFigureOut">
              <a:rPr lang="pt-BR" smtClean="0"/>
              <a:t>08/05/2024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9442A-9A14-4F39-A52A-E2D8685BC1A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156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43A13F1-89EA-0756-A708-7EC21046435A}"/>
              </a:ext>
            </a:extLst>
          </p:cNvPr>
          <p:cNvGrpSpPr/>
          <p:nvPr/>
        </p:nvGrpSpPr>
        <p:grpSpPr>
          <a:xfrm flipH="1">
            <a:off x="2573168" y="1238885"/>
            <a:ext cx="7483508" cy="2002972"/>
            <a:chOff x="1190229" y="1193074"/>
            <a:chExt cx="7483508" cy="2002972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0B69D7E-89FF-8678-2BD9-A169B80A682B}"/>
                </a:ext>
              </a:extLst>
            </p:cNvPr>
            <p:cNvSpPr/>
            <p:nvPr/>
          </p:nvSpPr>
          <p:spPr>
            <a:xfrm>
              <a:off x="5618342" y="1479162"/>
              <a:ext cx="3055395" cy="1716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3C7ED2F-B29B-F08C-4886-8EA64B160D93}"/>
                </a:ext>
              </a:extLst>
            </p:cNvPr>
            <p:cNvSpPr/>
            <p:nvPr/>
          </p:nvSpPr>
          <p:spPr>
            <a:xfrm>
              <a:off x="1190229" y="1193074"/>
              <a:ext cx="1718435" cy="9927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6" name="Fluxograma: Processo Alternativo 15">
            <a:extLst>
              <a:ext uri="{FF2B5EF4-FFF2-40B4-BE49-F238E27FC236}">
                <a16:creationId xmlns:a16="http://schemas.microsoft.com/office/drawing/2014/main" id="{1508470C-0853-15EA-0D99-C109290188A1}"/>
              </a:ext>
            </a:extLst>
          </p:cNvPr>
          <p:cNvSpPr/>
          <p:nvPr/>
        </p:nvSpPr>
        <p:spPr>
          <a:xfrm>
            <a:off x="1596275" y="1124057"/>
            <a:ext cx="3709000" cy="2030711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0" bIns="72000" rtlCol="0" anchor="ctr"/>
          <a:lstStyle/>
          <a:p>
            <a:endParaRPr lang="pt-BR" sz="3200" dirty="0">
              <a:solidFill>
                <a:schemeClr val="bg1"/>
              </a:solidFill>
              <a:latin typeface="Gorga Grotesque" panose="00000500000000000000" pitchFamily="50" charset="0"/>
            </a:endParaRPr>
          </a:p>
        </p:txBody>
      </p:sp>
      <p:sp>
        <p:nvSpPr>
          <p:cNvPr id="17" name="Fluxograma: Processo Alternativo 16">
            <a:extLst>
              <a:ext uri="{FF2B5EF4-FFF2-40B4-BE49-F238E27FC236}">
                <a16:creationId xmlns:a16="http://schemas.microsoft.com/office/drawing/2014/main" id="{72D76982-D59E-DF01-9EDF-58BD10A19FEF}"/>
              </a:ext>
            </a:extLst>
          </p:cNvPr>
          <p:cNvSpPr/>
          <p:nvPr/>
        </p:nvSpPr>
        <p:spPr>
          <a:xfrm>
            <a:off x="1823973" y="1124059"/>
            <a:ext cx="3709000" cy="2030709"/>
          </a:xfrm>
          <a:prstGeom prst="flowChartAlternateProcess">
            <a:avLst/>
          </a:prstGeom>
          <a:solidFill>
            <a:srgbClr val="00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0" bIns="72000" rtlCol="0" anchor="ctr"/>
          <a:lstStyle/>
          <a:p>
            <a:endParaRPr lang="pt-BR" sz="3200" dirty="0">
              <a:solidFill>
                <a:schemeClr val="bg1"/>
              </a:solidFill>
              <a:latin typeface="Gorga Grotesque" panose="00000500000000000000" pitchFamily="50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7CD5D4-2075-5EB1-EACD-B16686C4D79B}"/>
              </a:ext>
            </a:extLst>
          </p:cNvPr>
          <p:cNvSpPr txBox="1"/>
          <p:nvPr/>
        </p:nvSpPr>
        <p:spPr>
          <a:xfrm>
            <a:off x="2034130" y="1442620"/>
            <a:ext cx="3498844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1350" dirty="0">
                <a:solidFill>
                  <a:schemeClr val="bg1"/>
                </a:solidFill>
                <a:latin typeface="Gorga Grotesque" panose="00000500000000000000" pitchFamily="50" charset="0"/>
                <a:ea typeface="+mn-ea"/>
                <a:cs typeface="+mn-cs"/>
              </a:rPr>
              <a:t>PROJETO </a:t>
            </a:r>
            <a:r>
              <a:rPr lang="pt-BR" sz="1600" dirty="0">
                <a:solidFill>
                  <a:schemeClr val="lt1"/>
                </a:solidFill>
                <a:latin typeface="Gorga Grotesque" panose="00000500000000000000" pitchFamily="50" charset="0"/>
                <a:sym typeface="Arial"/>
              </a:rPr>
              <a:t>23-1351 </a:t>
            </a:r>
            <a:endParaRPr lang="pt-BR" sz="1600" dirty="0">
              <a:solidFill>
                <a:schemeClr val="bg1"/>
              </a:solidFill>
              <a:latin typeface="Gorga Grotesque" panose="00000500000000000000" pitchFamily="50" charset="0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4000" dirty="0">
                <a:solidFill>
                  <a:schemeClr val="bg1"/>
                </a:solidFill>
                <a:latin typeface="Gorga Grotesque" panose="00000500000000000000" pitchFamily="50" charset="0"/>
              </a:rPr>
              <a:t>Jacobina Segura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A3F99A-A1E8-E6E2-E898-4ED667E44B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 b="8445"/>
          <a:stretch/>
        </p:blipFill>
        <p:spPr>
          <a:xfrm>
            <a:off x="5643646" y="1124057"/>
            <a:ext cx="5391859" cy="4724293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455D09-E380-41A6-FF89-19706B68729D}"/>
              </a:ext>
            </a:extLst>
          </p:cNvPr>
          <p:cNvSpPr/>
          <p:nvPr/>
        </p:nvSpPr>
        <p:spPr>
          <a:xfrm>
            <a:off x="1596275" y="3254179"/>
            <a:ext cx="3773261" cy="1168564"/>
          </a:xfrm>
          <a:prstGeom prst="roundRect">
            <a:avLst>
              <a:gd name="adj" fmla="val 20471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0" bIns="72000" rtlCol="0" anchor="ctr"/>
          <a:lstStyle/>
          <a:p>
            <a:endParaRPr lang="pt-BR" sz="3200" dirty="0">
              <a:solidFill>
                <a:schemeClr val="bg1"/>
              </a:solidFill>
              <a:latin typeface="Gorga Grotesque" panose="00000500000000000000" pitchFamily="50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F70C0D0-FBF0-7E8C-C2F6-FC1226558CAC}"/>
              </a:ext>
            </a:extLst>
          </p:cNvPr>
          <p:cNvSpPr/>
          <p:nvPr/>
        </p:nvSpPr>
        <p:spPr>
          <a:xfrm>
            <a:off x="1823973" y="3254181"/>
            <a:ext cx="3709000" cy="1168563"/>
          </a:xfrm>
          <a:prstGeom prst="roundRect">
            <a:avLst>
              <a:gd name="adj" fmla="val 23188"/>
            </a:avLst>
          </a:prstGeom>
          <a:solidFill>
            <a:srgbClr val="33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0" bIns="72000" rtlCol="0" anchor="ctr"/>
          <a:lstStyle/>
          <a:p>
            <a:endParaRPr lang="pt-BR" sz="3200" dirty="0">
              <a:solidFill>
                <a:schemeClr val="bg1"/>
              </a:solidFill>
              <a:latin typeface="Gorga Grotesque" panose="00000500000000000000" pitchFamily="50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147E58-76B0-9482-DC49-632B9CF0C57A}"/>
              </a:ext>
            </a:extLst>
          </p:cNvPr>
          <p:cNvSpPr txBox="1"/>
          <p:nvPr/>
        </p:nvSpPr>
        <p:spPr>
          <a:xfrm>
            <a:off x="2034130" y="3572742"/>
            <a:ext cx="349884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4000" dirty="0" err="1">
                <a:solidFill>
                  <a:schemeClr val="bg1"/>
                </a:solidFill>
                <a:latin typeface="Gorga Grotesque" panose="00000500000000000000" pitchFamily="50" charset="0"/>
              </a:rPr>
              <a:t>Kick</a:t>
            </a:r>
            <a:r>
              <a:rPr lang="pt-BR" sz="4000" dirty="0">
                <a:solidFill>
                  <a:schemeClr val="bg1"/>
                </a:solidFill>
                <a:latin typeface="Gorga Grotesque" panose="00000500000000000000" pitchFamily="50" charset="0"/>
              </a:rPr>
              <a:t>-off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CCFE0E2-7C59-12F4-DC55-A51E8BE92D69}"/>
              </a:ext>
            </a:extLst>
          </p:cNvPr>
          <p:cNvGrpSpPr/>
          <p:nvPr/>
        </p:nvGrpSpPr>
        <p:grpSpPr>
          <a:xfrm>
            <a:off x="1596275" y="4974258"/>
            <a:ext cx="4432393" cy="717537"/>
            <a:chOff x="1605800" y="5044966"/>
            <a:chExt cx="4773943" cy="77282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358FE91-8664-44F0-9156-DCEEAA67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5800" y="5044966"/>
              <a:ext cx="1542131" cy="772829"/>
            </a:xfrm>
            <a:prstGeom prst="rect">
              <a:avLst/>
            </a:prstGeom>
            <a:effectLst/>
          </p:spPr>
        </p:pic>
        <p:pic>
          <p:nvPicPr>
            <p:cNvPr id="2" name="Google Shape;80;p1" descr="Pan American Silver reports third quarter 2022 results">
              <a:extLst>
                <a:ext uri="{FF2B5EF4-FFF2-40B4-BE49-F238E27FC236}">
                  <a16:creationId xmlns:a16="http://schemas.microsoft.com/office/drawing/2014/main" id="{83EC8B46-CF4A-A619-0A36-427BE451383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74346" y="5073692"/>
              <a:ext cx="2805397" cy="7153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5646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O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515600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Nome do projeto (interno): </a:t>
            </a:r>
            <a:r>
              <a:rPr lang="pt-BR" dirty="0"/>
              <a:t>Gamificação Jacobina</a:t>
            </a:r>
            <a:endParaRPr lang="pt-BR" sz="2800" b="1" dirty="0">
              <a:solidFill>
                <a:srgbClr val="404D91"/>
              </a:solidFill>
            </a:endParaRPr>
          </a:p>
          <a:p>
            <a:pPr>
              <a:spcAft>
                <a:spcPts val="1200"/>
              </a:spcAft>
            </a:pPr>
            <a:r>
              <a:rPr lang="pt-BR" b="1" dirty="0"/>
              <a:t>Quem liderará a comunicação e as aprovações do lado do cliente?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Isadora, Catharina, Bárbara, Cassiana e Elmano</a:t>
            </a:r>
          </a:p>
          <a:p>
            <a:pPr>
              <a:spcAft>
                <a:spcPts val="1200"/>
              </a:spcAft>
            </a:pPr>
            <a:r>
              <a:rPr lang="pt-BR" b="1" dirty="0"/>
              <a:t>Quais as datas-chave relevantes para o projeto?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Reuniões comunitárias (seminários orientativos) acontecerão no final de abril. Serão aproximadamente 15 reuniões, que envolverão de 700 a 800 pessoas da comunidade, em encontros de 1,5 a 3 horas de duração.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Simulado em julho – até lá escolas, unidades </a:t>
            </a:r>
            <a:r>
              <a:rPr lang="pt-BR"/>
              <a:t>de saúde e </a:t>
            </a:r>
            <a:r>
              <a:rPr lang="pt-BR" dirty="0"/>
              <a:t>empresas </a:t>
            </a:r>
            <a:r>
              <a:rPr lang="pt-BR"/>
              <a:t>serão envolvidas.</a:t>
            </a:r>
            <a:endParaRPr lang="pt-BR" dirty="0"/>
          </a:p>
          <a:p>
            <a:pPr>
              <a:spcAft>
                <a:spcPts val="12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963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Contornos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193217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Formato do jogo: </a:t>
            </a:r>
            <a:r>
              <a:rPr lang="pt-BR" dirty="0"/>
              <a:t>presencial</a:t>
            </a:r>
          </a:p>
          <a:p>
            <a:pPr>
              <a:spcAft>
                <a:spcPts val="1200"/>
              </a:spcAft>
            </a:pPr>
            <a:r>
              <a:rPr lang="pt-BR" b="1" dirty="0"/>
              <a:t>Formato de facilitação: </a:t>
            </a:r>
            <a:r>
              <a:rPr lang="pt-BR" dirty="0"/>
              <a:t>Presencial</a:t>
            </a:r>
          </a:p>
          <a:p>
            <a:pPr>
              <a:spcAft>
                <a:spcPts val="1200"/>
              </a:spcAft>
            </a:pPr>
            <a:r>
              <a:rPr lang="pt-BR" b="1" dirty="0"/>
              <a:t>Quem será o facilitador? </a:t>
            </a:r>
            <a:r>
              <a:rPr lang="pt-BR" dirty="0">
                <a:solidFill>
                  <a:srgbClr val="202124"/>
                </a:solidFill>
                <a:latin typeface="Roboto" panose="02000000000000000000" pitchFamily="2" charset="0"/>
              </a:rPr>
              <a:t>P</a:t>
            </a:r>
            <a:r>
              <a:rPr lang="pt-BR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rofessores e comunidade escolar.</a:t>
            </a:r>
            <a:endParaRPr lang="pt-BR" b="1" dirty="0"/>
          </a:p>
          <a:p>
            <a:pPr>
              <a:spcAft>
                <a:spcPts val="1200"/>
              </a:spcAft>
            </a:pPr>
            <a:r>
              <a:rPr lang="pt-BR" b="1" dirty="0"/>
              <a:t>Tempo disponível para a experiência completa: </a:t>
            </a:r>
            <a:r>
              <a:rPr lang="pt-BR" dirty="0"/>
              <a:t>2 horas para WS e tempo de jogo até 1h </a:t>
            </a:r>
          </a:p>
          <a:p>
            <a:pPr>
              <a:spcAft>
                <a:spcPts val="1200"/>
              </a:spcAft>
            </a:pPr>
            <a:r>
              <a:rPr lang="pt-BR" b="1" dirty="0"/>
              <a:t>Público da ação / quem vai jogar: </a:t>
            </a:r>
            <a:r>
              <a:rPr lang="pt-BR" dirty="0"/>
              <a:t>5 a 8 – 9 a 12 e 13+</a:t>
            </a:r>
          </a:p>
          <a:p>
            <a:pPr>
              <a:spcAft>
                <a:spcPts val="1200"/>
              </a:spcAft>
            </a:pPr>
            <a:r>
              <a:rPr lang="pt-BR" b="1" dirty="0"/>
              <a:t>Número de pessoas que vão jogar: </a:t>
            </a:r>
            <a:r>
              <a:rPr lang="pt-BR" dirty="0"/>
              <a:t>30 pessoas</a:t>
            </a:r>
          </a:p>
        </p:txBody>
      </p:sp>
    </p:spTree>
    <p:extLst>
      <p:ext uri="{BB962C8B-B14F-4D97-AF65-F5344CB8AC3E}">
        <p14:creationId xmlns:p14="http://schemas.microsoft.com/office/powerpoint/2010/main" val="125039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Sobre a experiência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193217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Qual o objetivo do projeto? : </a:t>
            </a:r>
          </a:p>
          <a:p>
            <a:pPr>
              <a:spcAft>
                <a:spcPts val="1200"/>
              </a:spcAft>
            </a:pPr>
            <a:r>
              <a:rPr lang="pt-BR" b="1" dirty="0"/>
              <a:t>Contexto: </a:t>
            </a:r>
            <a:r>
              <a:rPr lang="pt-BR" dirty="0"/>
              <a:t>....</a:t>
            </a:r>
          </a:p>
          <a:p>
            <a:pPr>
              <a:spcAft>
                <a:spcPts val="1200"/>
              </a:spcAft>
            </a:pPr>
            <a:r>
              <a:rPr lang="pt-BR" b="1" dirty="0"/>
              <a:t>Foco de aprendizagem: </a:t>
            </a:r>
            <a:r>
              <a:rPr lang="pt-BR" dirty="0"/>
              <a:t>....</a:t>
            </a:r>
          </a:p>
          <a:p>
            <a:pPr>
              <a:spcAft>
                <a:spcPts val="1200"/>
              </a:spcAft>
            </a:pPr>
            <a:r>
              <a:rPr lang="pt-BR" b="1" dirty="0"/>
              <a:t>Principais temas:</a:t>
            </a:r>
            <a:r>
              <a:rPr lang="pt-BR" dirty="0"/>
              <a:t> ....</a:t>
            </a:r>
          </a:p>
        </p:txBody>
      </p:sp>
    </p:spTree>
    <p:extLst>
      <p:ext uri="{BB962C8B-B14F-4D97-AF65-F5344CB8AC3E}">
        <p14:creationId xmlns:p14="http://schemas.microsoft.com/office/powerpoint/2010/main" val="74839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D.I 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193217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Qual o tipo de linguagem: </a:t>
            </a:r>
            <a:r>
              <a:rPr lang="pt-BR" dirty="0"/>
              <a:t>Crianças e adolescentes</a:t>
            </a:r>
          </a:p>
          <a:p>
            <a:pPr>
              <a:spcAft>
                <a:spcPts val="1200"/>
              </a:spcAft>
            </a:pPr>
            <a:r>
              <a:rPr lang="pt-BR" b="1" dirty="0"/>
              <a:t>O que é prioritário em termos de conteúdo/ações: </a:t>
            </a:r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trabalhar o medo do rompimento das barragens, trabalhar o tema de como as barragens são seguras, participação de órgãos públicos, rotas de fuga (se não tem placa é seguro), SENSIBILIZAÇÃO</a:t>
            </a:r>
            <a:endParaRPr lang="pt-BR" sz="1600" b="1" dirty="0"/>
          </a:p>
          <a:p>
            <a:pPr>
              <a:spcAft>
                <a:spcPts val="1200"/>
              </a:spcAft>
            </a:pPr>
            <a:r>
              <a:rPr lang="pt-BR" b="1" dirty="0"/>
              <a:t>Materiais de referências do assunto (insumos): </a:t>
            </a:r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plano de ação de emergência (PAIBM) (fluxograma), slides (seminários orientativos) mineira (receber material)</a:t>
            </a:r>
            <a:endParaRPr lang="pt-BR" sz="1600" b="1" dirty="0"/>
          </a:p>
          <a:p>
            <a:pPr>
              <a:spcAft>
                <a:spcPts val="1200"/>
              </a:spcAft>
            </a:pPr>
            <a:r>
              <a:rPr lang="pt-BR" b="1" dirty="0"/>
              <a:t>Qual tempo disponível para WS – Pode ser online?: </a:t>
            </a:r>
            <a:r>
              <a:rPr lang="pt-BR" sz="1600" dirty="0">
                <a:solidFill>
                  <a:schemeClr val="tx1"/>
                </a:solidFill>
              </a:rPr>
              <a:t>Até 2h – Cliente solicitou ser presencial </a:t>
            </a:r>
          </a:p>
          <a:p>
            <a:pPr>
              <a:spcAft>
                <a:spcPts val="1200"/>
              </a:spcAft>
            </a:pPr>
            <a:r>
              <a:rPr lang="pt-BR" b="1" dirty="0"/>
              <a:t>Há algum pré-requisito: </a:t>
            </a:r>
          </a:p>
          <a:p>
            <a:pPr>
              <a:spcAft>
                <a:spcPts val="12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979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D.G Referências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193217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Manual da marca: </a:t>
            </a:r>
            <a:r>
              <a:rPr lang="pt-BR" dirty="0">
                <a:solidFill>
                  <a:schemeClr val="tx1"/>
                </a:solidFill>
              </a:rPr>
              <a:t>Cliente enviar</a:t>
            </a:r>
          </a:p>
          <a:p>
            <a:pPr>
              <a:spcAft>
                <a:spcPts val="1200"/>
              </a:spcAft>
            </a:pPr>
            <a:r>
              <a:rPr lang="pt-BR" b="1" dirty="0"/>
              <a:t>Referência de layout: </a:t>
            </a:r>
            <a:r>
              <a:rPr lang="pt-BR" dirty="0">
                <a:solidFill>
                  <a:schemeClr val="tx1"/>
                </a:solidFill>
              </a:rPr>
              <a:t>Mineirinha e arte que Ca mandou</a:t>
            </a:r>
          </a:p>
          <a:p>
            <a:pPr>
              <a:spcAft>
                <a:spcPts val="1200"/>
              </a:spcAft>
            </a:pPr>
            <a:r>
              <a:rPr lang="pt-BR" b="1" dirty="0"/>
              <a:t>Possui banco de imagem próprio?</a:t>
            </a:r>
          </a:p>
          <a:p>
            <a:pPr>
              <a:spcAft>
                <a:spcPts val="1200"/>
              </a:spcAft>
            </a:pPr>
            <a:r>
              <a:rPr lang="pt-BR" b="1" dirty="0"/>
              <a:t>Alguma restrição?</a:t>
            </a:r>
          </a:p>
          <a:p>
            <a:pPr>
              <a:spcAft>
                <a:spcPts val="1200"/>
              </a:spcAft>
            </a:pPr>
            <a:r>
              <a:rPr lang="pt-BR" b="1" dirty="0"/>
              <a:t>Qual o tempo de validação e áreas? </a:t>
            </a:r>
            <a:r>
              <a:rPr lang="pt-BR" dirty="0">
                <a:solidFill>
                  <a:schemeClr val="tx1"/>
                </a:solidFill>
              </a:rPr>
              <a:t>Cliente responder</a:t>
            </a:r>
          </a:p>
          <a:p>
            <a:pPr>
              <a:spcAft>
                <a:spcPts val="1200"/>
              </a:spcAft>
            </a:pPr>
            <a:r>
              <a:rPr lang="pt-BR" b="1" dirty="0"/>
              <a:t>Há algum pré-requisito: ... </a:t>
            </a:r>
          </a:p>
          <a:p>
            <a:pPr>
              <a:spcAft>
                <a:spcPts val="12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97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Notas geral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8" y="1590447"/>
            <a:ext cx="10193217" cy="44899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dirty="0"/>
              <a:t>Cronograma com cliente </a:t>
            </a:r>
          </a:p>
          <a:p>
            <a:pPr>
              <a:spcAft>
                <a:spcPts val="1200"/>
              </a:spcAft>
            </a:pPr>
            <a:r>
              <a:rPr lang="pt-BR" dirty="0"/>
              <a:t>Reunião semanal</a:t>
            </a:r>
          </a:p>
          <a:p>
            <a:pPr>
              <a:spcAft>
                <a:spcPts val="1200"/>
              </a:spcAft>
            </a:pPr>
            <a:endParaRPr lang="pt-BR" dirty="0"/>
          </a:p>
          <a:p>
            <a:pPr>
              <a:spcAft>
                <a:spcPts val="12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32154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5796</TotalTime>
  <Words>346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Gorga Grotesque</vt:lpstr>
      <vt:lpstr>Roboto</vt:lpstr>
      <vt:lpstr>Wingdings</vt:lpstr>
      <vt:lpstr>Personalizar design</vt:lpstr>
      <vt:lpstr>Apresentação do PowerPoint</vt:lpstr>
      <vt:lpstr>O projeto </vt:lpstr>
      <vt:lpstr>Contornos do projeto</vt:lpstr>
      <vt:lpstr>Sobre a experiência</vt:lpstr>
      <vt:lpstr>D.I Referências</vt:lpstr>
      <vt:lpstr>D.G Referências </vt:lpstr>
      <vt:lpstr>Notas geral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Felipe Vila</dc:creator>
  <dc:description/>
  <cp:lastModifiedBy>Michelle</cp:lastModifiedBy>
  <cp:revision>295</cp:revision>
  <dcterms:created xsi:type="dcterms:W3CDTF">2019-07-01T17:44:21Z</dcterms:created>
  <dcterms:modified xsi:type="dcterms:W3CDTF">2024-05-08T19:14:01Z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27</vt:i4>
  </property>
</Properties>
</file>